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64" r:id="rId1"/>
  </p:sldMasterIdLst>
  <p:notesMasterIdLst>
    <p:notesMasterId r:id="rId5"/>
  </p:notesMasterIdLst>
  <p:handoutMasterIdLst>
    <p:handoutMasterId r:id="rId6"/>
  </p:handoutMasterIdLst>
  <p:sldIdLst>
    <p:sldId id="353" r:id="rId2"/>
    <p:sldId id="354" r:id="rId3"/>
    <p:sldId id="355" r:id="rId4"/>
  </p:sldIdLst>
  <p:sldSz cx="9144000" cy="6858000" type="screen4x3"/>
  <p:notesSz cx="6669088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0101"/>
    <a:srgbClr val="CC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985" autoAdjust="0"/>
  </p:normalViewPr>
  <p:slideViewPr>
    <p:cSldViewPr>
      <p:cViewPr varScale="1">
        <p:scale>
          <a:sx n="62" d="100"/>
          <a:sy n="62" d="100"/>
        </p:scale>
        <p:origin x="162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2934" y="-102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3AF11-B4F6-413A-BADE-B647180D472F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D86EF-6CFA-4B40-B6ED-385D8A4A02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66396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33109-16B1-4AE2-BE34-DA3FFF2F314D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35627C-8AA2-461C-B492-F3EF84A448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1918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7A847CFC-816F-41D0-AAC0-9BF4FEBC753E}" type="datetimeFigureOut">
              <a:rPr lang="es-ES" smtClean="0"/>
              <a:t>08/03/2018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65" r:id="rId1"/>
    <p:sldLayoutId id="2147484766" r:id="rId2"/>
    <p:sldLayoutId id="2147484767" r:id="rId3"/>
    <p:sldLayoutId id="2147484768" r:id="rId4"/>
    <p:sldLayoutId id="2147484769" r:id="rId5"/>
    <p:sldLayoutId id="2147484770" r:id="rId6"/>
    <p:sldLayoutId id="2147484771" r:id="rId7"/>
    <p:sldLayoutId id="2147484772" r:id="rId8"/>
    <p:sldLayoutId id="2147484773" r:id="rId9"/>
    <p:sldLayoutId id="2147484774" r:id="rId10"/>
    <p:sldLayoutId id="214748477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4725144"/>
            <a:ext cx="8058472" cy="1447056"/>
          </a:xfrm>
        </p:spPr>
        <p:txBody>
          <a:bodyPr/>
          <a:lstStyle/>
          <a:p>
            <a:r>
              <a:rPr lang="es-ES" sz="4000" dirty="0"/>
              <a:t>Problema de transferencia de calor (régimen estacionario - </a:t>
            </a:r>
            <a:r>
              <a:rPr lang="es-ES" sz="4000" dirty="0" smtClean="0"/>
              <a:t>radiación</a:t>
            </a:r>
            <a:r>
              <a:rPr lang="es-ES" sz="40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764704"/>
                <a:ext cx="8280920" cy="3528392"/>
              </a:xfr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indent="0">
                  <a:buNone/>
                </a:pPr>
                <a:endParaRPr lang="es-E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l-GR" i="1">
                              <a:latin typeface="Cambria Math"/>
                              <a:ea typeface="Cambria Math"/>
                            </a:rPr>
                            <m:t>Ω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/>
                                    </a:rPr>
                                    <m:t>𝐾</m:t>
                                  </m:r>
                                </m:e>
                                <m:sub/>
                              </m:sSub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s-ES" i="1">
                                  <a:latin typeface="Cambria Math"/>
                                  <a:ea typeface="Cambria Math"/>
                                </a:rPr>
                                <m:t> 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s-ES" i="1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/>
                                    </a:rPr>
                                    <m:t>𝐾</m:t>
                                  </m:r>
                                </m:e>
                                <m:sub/>
                              </m:sSub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s-ES" i="1">
                                  <a:latin typeface="Cambria Math"/>
                                  <a:ea typeface="Cambria Math"/>
                                </a:rPr>
                                <m:t> 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  <m:r>
                            <a:rPr lang="es-ES" i="1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</m:nary>
                      <m:r>
                        <a:rPr lang="es-ES" i="1">
                          <a:latin typeface="Cambria Math"/>
                          <a:ea typeface="Cambria Math"/>
                        </a:rPr>
                        <m:t>+</m:t>
                      </m:r>
                      <m:nary>
                        <m:nary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  <a:ea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s-ES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s-ES" i="1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sub>
                          </m:sSub>
                          <m:r>
                            <a:rPr lang="es-ES" i="1">
                              <a:latin typeface="Cambria Math"/>
                              <a:ea typeface="Cambria Math"/>
                            </a:rPr>
                            <m:t>𝜎</m:t>
                          </m:r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i="1">
                                      <a:latin typeface="Cambria Math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s-ES" i="1">
                                      <a:latin typeface="Cambria Math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s-ES" i="1">
                                  <a:latin typeface="Cambria Math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i="1">
                                      <a:latin typeface="Cambria Math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es-ES" i="1">
                                      <a:latin typeface="Cambria Math"/>
                                    </a:rPr>
                                    <m:t>4</m:t>
                                  </m:r>
                                </m:sup>
                              </m:sSubSup>
                            </m:e>
                          </m:d>
                          <m:r>
                            <a:rPr lang="es-ES" i="1">
                              <a:latin typeface="Cambria Math"/>
                            </a:rPr>
                            <m:t>𝑣</m:t>
                          </m:r>
                          <m:r>
                            <a:rPr lang="es-ES" b="0" i="1" smtClean="0">
                              <a:latin typeface="Cambria Math"/>
                            </a:rPr>
                            <m:t> </m:t>
                          </m:r>
                          <m:r>
                            <a:rPr lang="es-ES" i="1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  <a:ea typeface="Cambria Math"/>
                            </a:rPr>
                            <m:t>Γ</m:t>
                          </m:r>
                        </m:e>
                      </m:nary>
                      <m:r>
                        <a:rPr lang="es-ES" b="0" i="1" smtClean="0">
                          <a:latin typeface="Cambria Math"/>
                          <a:ea typeface="Cambria Math"/>
                        </a:rPr>
                        <m:t>=0.</m:t>
                      </m:r>
                    </m:oMath>
                  </m:oMathPara>
                </a14:m>
                <a:endParaRPr lang="es-ES" dirty="0" smtClean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764704"/>
                <a:ext cx="8280920" cy="3528392"/>
              </a:xfrm>
              <a:blipFill rotWithShape="0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3 Pergamino horizontal"/>
              <p:cNvSpPr/>
              <p:nvPr/>
            </p:nvSpPr>
            <p:spPr>
              <a:xfrm>
                <a:off x="3347864" y="3068960"/>
                <a:ext cx="5328592" cy="1800200"/>
              </a:xfrm>
              <a:prstGeom prst="horizontalScroll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s-E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𝑢</m:t>
                              </m:r>
                            </m:e>
                            <m:sup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p>
                          </m:sSup>
                          <m:r>
                            <a:rPr kumimoji="0" lang="es-E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sub>
                            <m:sup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p>
                          </m:sSubSup>
                        </m:e>
                      </m:d>
                      <m:r>
                        <a:rPr kumimoji="0" lang="es-E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s-E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𝑢</m:t>
                              </m:r>
                            </m:e>
                            <m:sup>
                              <m:r>
                                <a:rPr kumimoji="0" lang="es-E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s-E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sub>
                            <m:sup>
                              <m:r>
                                <a:rPr kumimoji="0" lang="es-E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d>
                        <m:dPr>
                          <m:ctrlPr>
                            <a:rPr kumimoji="0" lang="es-E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𝑢</m:t>
                              </m:r>
                            </m:e>
                            <m:sup>
                              <m:r>
                                <a:rPr kumimoji="0" lang="es-E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s-E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sub>
                            <m:sup>
                              <m:r>
                                <a:rPr kumimoji="0" lang="es-E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kumimoji="0" lang="es-E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s-E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𝑢</m:t>
                              </m:r>
                            </m:e>
                            <m:sup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s-E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sub>
                            <m:sup>
                              <m:r>
                                <a:rPr kumimoji="0" lang="es-E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d>
                        <m:dPr>
                          <m:ctrlPr>
                            <a:rPr kumimoji="0" lang="es-E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s-E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𝑢</m:t>
                          </m:r>
                          <m:r>
                            <a:rPr kumimoji="0" lang="es-E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s-E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s-E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0" lang="es-E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kumimoji="0" lang="es-E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s-E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𝑢</m:t>
                          </m:r>
                          <m:r>
                            <a:rPr kumimoji="0" lang="es-E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s-E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s-E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0" lang="es-E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s-E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3 Pergamino horizonta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3068960"/>
                <a:ext cx="5328592" cy="1800200"/>
              </a:xfrm>
              <a:prstGeom prst="horizontalScroll">
                <a:avLst/>
              </a:prstGeom>
              <a:blipFill rotWithShape="0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77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4725144"/>
            <a:ext cx="8058472" cy="1447056"/>
          </a:xfrm>
        </p:spPr>
        <p:txBody>
          <a:bodyPr/>
          <a:lstStyle/>
          <a:p>
            <a:r>
              <a:rPr lang="es-ES" sz="4000" dirty="0"/>
              <a:t>Problema de transferencia de calor (régimen estacionario - </a:t>
            </a:r>
            <a:r>
              <a:rPr lang="es-ES" sz="4000" dirty="0" smtClean="0"/>
              <a:t>radiación</a:t>
            </a:r>
            <a:r>
              <a:rPr lang="es-ES" sz="40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548680"/>
                <a:ext cx="8280920" cy="4176464"/>
              </a:xfr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indent="0">
                  <a:buNone/>
                </a:pPr>
                <a:endParaRPr lang="es-E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l-GR" i="1">
                              <a:latin typeface="Cambria Math"/>
                              <a:ea typeface="Cambria Math"/>
                            </a:rPr>
                            <m:t>Ω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/>
                                    </a:rPr>
                                    <m:t>𝐾</m:t>
                                  </m:r>
                                </m:e>
                                <m:sub/>
                              </m:sSub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s-ES" i="1">
                                  <a:latin typeface="Cambria Math"/>
                                  <a:ea typeface="Cambria Math"/>
                                </a:rPr>
                                <m:t> 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s-ES" i="1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/>
                                    </a:rPr>
                                    <m:t>𝐾</m:t>
                                  </m:r>
                                </m:e>
                                <m:sub/>
                              </m:sSub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s-ES" i="1">
                                  <a:latin typeface="Cambria Math"/>
                                  <a:ea typeface="Cambria Math"/>
                                </a:rPr>
                                <m:t> 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𝜕</m:t>
                                  </m:r>
                                  <m:r>
                                    <a:rPr lang="es-ES" i="1">
                                      <a:latin typeface="Cambria Math"/>
                                      <a:ea typeface="Cambria Math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  <m:r>
                            <a:rPr lang="es-ES" i="1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</m:nary>
                      <m:r>
                        <a:rPr lang="es-ES" i="1">
                          <a:latin typeface="Cambria Math"/>
                          <a:ea typeface="Cambria Math"/>
                        </a:rPr>
                        <m:t>+</m:t>
                      </m:r>
                      <m:nary>
                        <m:nary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/>
                                  <a:ea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s-ES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s-ES" i="1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sub>
                          </m:sSub>
                          <m:r>
                            <a:rPr lang="es-ES" i="1">
                              <a:latin typeface="Cambria Math"/>
                              <a:ea typeface="Cambria Math"/>
                            </a:rPr>
                            <m:t>𝜎</m:t>
                          </m:r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s-ES" i="1">
                                      <a:latin typeface="Cambria Math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ES" i="1">
                                  <a:latin typeface="Cambria Math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i="1">
                                      <a:latin typeface="Cambria Math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es-E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ES" i="1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/>
                                </a:rPr>
                                <m:t>𝑢</m:t>
                              </m:r>
                              <m:r>
                                <a:rPr lang="es-ES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s-ES" i="1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/>
                                </a:rPr>
                                <m:t>𝑢</m:t>
                              </m:r>
                              <m:r>
                                <a:rPr lang="es-ES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s-ES" i="1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  <m:r>
                            <a:rPr lang="es-ES" i="1">
                              <a:latin typeface="Cambria Math"/>
                            </a:rPr>
                            <m:t>𝑣</m:t>
                          </m:r>
                          <m:r>
                            <a:rPr lang="es-ES" b="0" i="1" smtClean="0">
                              <a:latin typeface="Cambria Math"/>
                            </a:rPr>
                            <m:t> </m:t>
                          </m:r>
                          <m:r>
                            <a:rPr lang="es-ES" i="1">
                              <a:latin typeface="Cambria Math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/>
                              <a:ea typeface="Cambria Math"/>
                            </a:rPr>
                            <m:t>Γ</m:t>
                          </m:r>
                        </m:e>
                      </m:nary>
                      <m:r>
                        <a:rPr lang="es-ES" b="0" i="1" smtClean="0">
                          <a:latin typeface="Cambria Math"/>
                          <a:ea typeface="Cambria Math"/>
                        </a:rPr>
                        <m:t>=0.</m:t>
                      </m:r>
                    </m:oMath>
                  </m:oMathPara>
                </a14:m>
                <a:endParaRPr lang="es-ES" dirty="0" smtClean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548680"/>
                <a:ext cx="8280920" cy="4176464"/>
              </a:xfrm>
              <a:blipFill rotWithShape="0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473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2 Marcador de contenido"/>
              <p:cNvSpPr txBox="1">
                <a:spLocks/>
              </p:cNvSpPr>
              <p:nvPr/>
            </p:nvSpPr>
            <p:spPr>
              <a:xfrm>
                <a:off x="1043608" y="1628800"/>
                <a:ext cx="7416824" cy="208609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>
                <a:lvl1pPr marL="274320" indent="-27432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594360" indent="-27432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86868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0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800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1901952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AD0101"/>
                  </a:buClr>
                  <a:buSzTx/>
                  <a:buFont typeface="Arial" pitchFamily="34" charset="0"/>
                  <a:buNone/>
                  <a:tabLst/>
                  <a:defRPr/>
                </a:pPr>
                <a:endParaRPr kumimoji="0" lang="es-E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AD0101"/>
                  </a:buClr>
                  <a:buSzTx/>
                  <a:buFont typeface="Arial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0" lang="es-E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kumimoji="0" lang="el-G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Cambria Math"/>
                              <a:cs typeface="+mn-cs"/>
                            </a:rPr>
                            <m:t>Ω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𝐾</m:t>
                                  </m:r>
                                </m:e>
                                <m:sub/>
                              </m:sSub>
                              <m:f>
                                <m:fPr>
                                  <m:ctrlP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+mn-cs"/>
                                </a:rPr>
                                <m:t>  </m:t>
                              </m:r>
                              <m:f>
                                <m:fPr>
                                  <m:ctrlP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𝐾</m:t>
                                  </m:r>
                                </m:e>
                                <m:sub/>
                              </m:sSub>
                              <m:f>
                                <m:fPr>
                                  <m:ctrlP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𝑢</m:t>
                                  </m:r>
                                </m:num>
                                <m:den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+mn-cs"/>
                                </a:rPr>
                                <m:t>  </m:t>
                              </m:r>
                              <m:f>
                                <m:fPr>
                                  <m:ctrlP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𝜕</m:t>
                                  </m:r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+mn-cs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  <m:r>
                            <a:rPr kumimoji="0" lang="es-E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kumimoji="0" lang="el-G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Cambria Math"/>
                              <a:cs typeface="+mn-cs"/>
                            </a:rPr>
                            <m:t>Ω</m:t>
                          </m:r>
                        </m:e>
                      </m:nary>
                      <m:r>
                        <a:rPr kumimoji="0" lang="es-E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+</m:t>
                      </m:r>
                      <m:nary>
                        <m:naryPr>
                          <m:ctrlPr>
                            <a:rPr kumimoji="0" lang="es-E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l-G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+mn-cs"/>
                                </a:rPr>
                                <m:t>Γ</m:t>
                              </m:r>
                            </m:e>
                            <m:sub>
                              <m: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+mn-cs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+mn-cs"/>
                                </a:rPr>
                                <m:t>𝑎</m:t>
                              </m:r>
                            </m:sub>
                          </m:sSub>
                          <m:r>
                            <a:rPr kumimoji="0" lang="es-E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Cambria Math"/>
                              <a:cs typeface="+mn-cs"/>
                            </a:rPr>
                            <m:t>𝜎</m:t>
                          </m:r>
                          <m:r>
                            <a:rPr kumimoji="0" lang="es-E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/>
                              <a:cs typeface="+mn-cs"/>
                            </a:rPr>
                            <m:t> </m:t>
                          </m:r>
                          <m:d>
                            <m:dPr>
                              <m:ctrlP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kumimoji="0" lang="es-ES_tradnl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0" lang="es-ES_tradnl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kumimoji="0" lang="es-ES_tradnl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d>
                            <m:dPr>
                              <m:ctrlP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s-ES_tradnl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𝑢</m:t>
                              </m:r>
                              <m:r>
                                <a:rPr kumimoji="0" lang="es-ES_tradnl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s-E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𝑓</m:t>
                                  </m:r>
                                </m:sub>
                                <m:sup/>
                              </m:sSubSup>
                            </m:e>
                          </m:d>
                          <m:r>
                            <a:rPr kumimoji="0" lang="es-E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</m:t>
                          </m:r>
                          <m:d>
                            <m:dPr>
                              <m:ctrlP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s-ES_tradnl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𝑢</m:t>
                              </m:r>
                              <m:r>
                                <a:rPr kumimoji="0" lang="es-E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es-ES_tradnl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s-ES_tradnl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kumimoji="0" lang="es-ES_tradnl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s-E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𝑣</m:t>
                          </m:r>
                          <m:r>
                            <a:rPr kumimoji="0" lang="es-E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s-E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kumimoji="0" lang="el-G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Cambria Math"/>
                              <a:cs typeface="+mn-cs"/>
                            </a:rPr>
                            <m:t>Γ</m:t>
                          </m:r>
                        </m:e>
                      </m:nary>
                      <m:r>
                        <a:rPr kumimoji="0" lang="es-E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=0.</m:t>
                      </m:r>
                    </m:oMath>
                  </m:oMathPara>
                </a14:m>
                <a:endParaRPr kumimoji="0" lang="es-E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2 Marcador de contenid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628800"/>
                <a:ext cx="7416824" cy="2086094"/>
              </a:xfrm>
              <a:prstGeom prst="rect">
                <a:avLst/>
              </a:prstGeom>
              <a:blipFill rotWithShape="0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6 Cerrar llave"/>
          <p:cNvSpPr/>
          <p:nvPr/>
        </p:nvSpPr>
        <p:spPr>
          <a:xfrm rot="5400000">
            <a:off x="5834376" y="1766120"/>
            <a:ext cx="180020" cy="15840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5773742" y="2563770"/>
            <a:ext cx="2664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(u se </a:t>
            </a:r>
            <a:r>
              <a:rPr kumimoji="0" lang="es-ES_tradnl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evalua</a:t>
            </a:r>
            <a:r>
              <a:rPr kumimoji="0" lang="es-ES_tradn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 en la </a:t>
            </a:r>
            <a:r>
              <a:rPr kumimoji="0" lang="es-ES_tradnl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temp</a:t>
            </a:r>
            <a:r>
              <a:rPr kumimoji="0" lang="es-ES_tradn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u  calculada en </a:t>
            </a:r>
            <a:r>
              <a:rPr kumimoji="0" lang="es-ES_tradnl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iterac</a:t>
            </a:r>
            <a:r>
              <a:rPr kumimoji="0" lang="es-ES_tradn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anterior (</a:t>
            </a:r>
            <a:r>
              <a:rPr kumimoji="0" lang="es-ES_tradnl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met</a:t>
            </a:r>
            <a:r>
              <a:rPr kumimoji="0" lang="es-ES_tradn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. </a:t>
            </a:r>
            <a:r>
              <a:rPr lang="es-ES_tradnl" dirty="0" smtClean="0">
                <a:solidFill>
                  <a:prstClr val="black"/>
                </a:solidFill>
                <a:latin typeface="Times New Roman"/>
              </a:rPr>
              <a:t>pun</a:t>
            </a:r>
            <a:r>
              <a:rPr kumimoji="0" lang="es-ES_tradn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to fijo) 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03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1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05F7D155668AF4C931FA4707163868B" ma:contentTypeVersion="10" ma:contentTypeDescription="Crear nuevo documento." ma:contentTypeScope="" ma:versionID="0934339bb0ab6ff395158a20857b260d">
  <xsd:schema xmlns:xsd="http://www.w3.org/2001/XMLSchema" xmlns:xs="http://www.w3.org/2001/XMLSchema" xmlns:p="http://schemas.microsoft.com/office/2006/metadata/properties" xmlns:ns2="fcdbccef-62ee-452b-9941-7e70cdfa3203" targetNamespace="http://schemas.microsoft.com/office/2006/metadata/properties" ma:root="true" ma:fieldsID="761c183ced6b1875f474651a67d515f2" ns2:_="">
    <xsd:import namespace="fcdbccef-62ee-452b-9941-7e70cdfa32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dbccef-62ee-452b-9941-7e70cdfa32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7842CE-7B78-414F-BDA5-73B575CB1A67}"/>
</file>

<file path=customXml/itemProps2.xml><?xml version="1.0" encoding="utf-8"?>
<ds:datastoreItem xmlns:ds="http://schemas.openxmlformats.org/officeDocument/2006/customXml" ds:itemID="{5DE51B93-6ED6-4002-9DFF-10AF80A2036C}"/>
</file>

<file path=customXml/itemProps3.xml><?xml version="1.0" encoding="utf-8"?>
<ds:datastoreItem xmlns:ds="http://schemas.openxmlformats.org/officeDocument/2006/customXml" ds:itemID="{F08C1119-B2B9-4146-B764-35B8FA8431BA}"/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3755</TotalTime>
  <Words>41</Words>
  <Application>Microsoft Office PowerPoint</Application>
  <PresentationFormat>Presentación en pantalla 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Calibri</vt:lpstr>
      <vt:lpstr>Cambria Math</vt:lpstr>
      <vt:lpstr>Impact</vt:lpstr>
      <vt:lpstr>Times New Roman</vt:lpstr>
      <vt:lpstr>NewsPrint</vt:lpstr>
      <vt:lpstr>Problema de transferencia de calor (régimen estacionario - radiación)</vt:lpstr>
      <vt:lpstr>Problema de transferencia de calor (régimen estacionario - radiación)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Curriculum Vitae</dc:title>
  <dc:creator>Begoland</dc:creator>
  <cp:lastModifiedBy>Gabriel Winter</cp:lastModifiedBy>
  <cp:revision>488</cp:revision>
  <cp:lastPrinted>2014-02-11T16:18:12Z</cp:lastPrinted>
  <dcterms:created xsi:type="dcterms:W3CDTF">2014-01-26T10:45:57Z</dcterms:created>
  <dcterms:modified xsi:type="dcterms:W3CDTF">2018-03-08T10:08:12Z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0x010100C05F7D155668AF4C931FA4707163868B</vt:lpwstr>
  </property>
</Properties>
</file>